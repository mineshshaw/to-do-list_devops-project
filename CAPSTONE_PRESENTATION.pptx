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Space Grotesk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6.xml"/><Relationship Id="rId22" Type="http://schemas.openxmlformats.org/officeDocument/2006/relationships/font" Target="fonts/Inter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-italic.fntdata"/><Relationship Id="rId13" Type="http://schemas.openxmlformats.org/officeDocument/2006/relationships/slide" Target="slides/slide8.xml"/><Relationship Id="rId24" Type="http://schemas.openxmlformats.org/officeDocument/2006/relationships/font" Target="fonts/SpaceGrotesk-bold.fntdata"/><Relationship Id="rId12" Type="http://schemas.openxmlformats.org/officeDocument/2006/relationships/slide" Target="slides/slide7.xml"/><Relationship Id="rId23" Type="http://schemas.openxmlformats.org/officeDocument/2006/relationships/font" Target="fonts/SpaceGrotes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791200" y="4868167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560093" y="1951732"/>
            <a:ext cx="3071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CAPSTONE SUBMISSION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70296" y="2380357"/>
            <a:ext cx="11251406" cy="140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End-to-End DevSecOps Pipeline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28812" y="4010917"/>
            <a:ext cx="83343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Infrastructure as Code, Continuous Integration, and Observability.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09600" y="2905125"/>
            <a:ext cx="3505200" cy="1990725"/>
          </a:xfrm>
          <a:prstGeom prst="roundRect">
            <a:avLst>
              <a:gd fmla="val 574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343400" y="2905125"/>
            <a:ext cx="3505200" cy="1990725"/>
          </a:xfrm>
          <a:prstGeom prst="roundRect">
            <a:avLst>
              <a:gd fmla="val 574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8077200" y="2905125"/>
            <a:ext cx="3505200" cy="1990725"/>
          </a:xfrm>
          <a:prstGeom prst="roundRect">
            <a:avLst>
              <a:gd fmla="val 574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700" y="3209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312" y="32099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39300" y="32099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-381000" y="762000"/>
            <a:ext cx="12954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Pipeline Architecture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312068" y="3781425"/>
            <a:ext cx="210026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Infrastructure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52450" y="4191000"/>
            <a:ext cx="3619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Terraform provisioning AWS EKS 1.31.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640943" y="3781425"/>
            <a:ext cx="91011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CI/CD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286250" y="4191000"/>
            <a:ext cx="3619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GitHub Actions workflow automation.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017198" y="3781425"/>
            <a:ext cx="162520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DevSecOps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020050" y="4191000"/>
            <a:ext cx="3619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Trivy, Checkov, and Bandit security gates.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95530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564909" y="2628900"/>
            <a:ext cx="3627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IaC Initialization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64909" y="3314700"/>
            <a:ext cx="31127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Terraform workspace successfully initialized, formatted, and syntax validated prior to provisioning.</a:t>
            </a:r>
            <a:endParaRPr/>
          </a:p>
        </p:txBody>
      </p:sp>
      <p:pic>
        <p:nvPicPr>
          <p:cNvPr id="112" name="Google Shape;112;p15" title="terraform_init_fmt_valida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973" y="376875"/>
            <a:ext cx="6497375" cy="610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29000"/>
            <a:ext cx="12192001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182875" y="181325"/>
            <a:ext cx="1186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STEP 01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82875" y="524225"/>
            <a:ext cx="1019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Infrastructure Provisioning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82875" y="1667225"/>
            <a:ext cx="971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VPC Reuse: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Data sources bypass network creation blocks.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82875" y="2276825"/>
            <a:ext cx="971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IAM Workarounds: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IRSA and KMS disabled for SCP compliance.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82875" y="2886425"/>
            <a:ext cx="971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Access Granted: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Creator admin permissions explicitly enabled.</a:t>
            </a:r>
            <a:endParaRPr/>
          </a:p>
        </p:txBody>
      </p:sp>
      <p:pic>
        <p:nvPicPr>
          <p:cNvPr id="123" name="Google Shape;123;p16" title="aws_eks_conso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38443"/>
            <a:ext cx="12192000" cy="1610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7955309" y="0"/>
            <a:ext cx="423669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95530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8564909" y="2514600"/>
            <a:ext cx="326837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Active Worker Nodes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564909" y="3657600"/>
            <a:ext cx="31127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T3.small instances successfully registered to the EKS control plane.</a:t>
            </a:r>
            <a:endParaRPr/>
          </a:p>
        </p:txBody>
      </p:sp>
      <p:pic>
        <p:nvPicPr>
          <p:cNvPr id="132" name="Google Shape;132;p17" title="deployed_nod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975" y="2638425"/>
            <a:ext cx="7553325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0"/>
            <a:ext cx="5943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609600" y="2781300"/>
            <a:ext cx="6600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Version Control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609600" y="3467100"/>
            <a:ext cx="5124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Structured Git commit history tracking all DevSecOps pipeline integrations and infrastructure updates.</a:t>
            </a:r>
            <a:endParaRPr/>
          </a:p>
        </p:txBody>
      </p:sp>
      <p:pic>
        <p:nvPicPr>
          <p:cNvPr id="140" name="Google Shape;140;p18" title="commit_histo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3787" y="1349263"/>
            <a:ext cx="5572826" cy="415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609600" y="1895475"/>
            <a:ext cx="3454449" cy="971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609600" y="3019425"/>
            <a:ext cx="3454449" cy="971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09600" y="4143375"/>
            <a:ext cx="3454449" cy="1162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609600" y="1895475"/>
            <a:ext cx="38100" cy="9715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609600" y="3019425"/>
            <a:ext cx="38100" cy="9715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609600" y="4143375"/>
            <a:ext cx="38100" cy="1162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8849" y="952500"/>
            <a:ext cx="7213550" cy="52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609600" y="3810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Automated CI/CD Workflow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876300" y="2124075"/>
            <a:ext cx="388388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Pre-Build Security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876300" y="2447925"/>
            <a:ext cx="36989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Gitleaks, Checkov, and Bandit scans.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876300" y="3248025"/>
            <a:ext cx="388388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Application Testing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876300" y="3571875"/>
            <a:ext cx="36989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Pytest execution.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876300" y="4371975"/>
            <a:ext cx="388388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Image Build &amp; Push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876300" y="4695825"/>
            <a:ext cx="30543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Trivy SCA followed by Docker Hub publish.</a:t>
            </a:r>
            <a:endParaRPr/>
          </a:p>
        </p:txBody>
      </p:sp>
      <p:pic>
        <p:nvPicPr>
          <p:cNvPr id="159" name="Google Shape;159;p19" title="ci_cd_workflow_github_actio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6250" y="1756512"/>
            <a:ext cx="7158751" cy="3230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609600" y="4152900"/>
            <a:ext cx="790575" cy="3429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1552575" y="4152900"/>
            <a:ext cx="695325" cy="3429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400300" y="4152900"/>
            <a:ext cx="971550" cy="3429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0"/>
            <a:ext cx="5943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609600" y="2362200"/>
            <a:ext cx="628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QUALITY GATES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609600" y="2705100"/>
            <a:ext cx="6600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Testing &amp; Security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609600" y="3390900"/>
            <a:ext cx="5124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Hard failure criteria prevents vulnerable code from building.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762000" y="4229100"/>
            <a:ext cx="581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Pytest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1704975" y="4229100"/>
            <a:ext cx="485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Trivy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2552700" y="42291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Checkov</a:t>
            </a:r>
            <a:endParaRPr/>
          </a:p>
        </p:txBody>
      </p:sp>
      <p:pic>
        <p:nvPicPr>
          <p:cNvPr id="174" name="Google Shape;174;p20" title="pyte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0400" y="1828850"/>
            <a:ext cx="5879600" cy="3200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95530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8564909" y="2514600"/>
            <a:ext cx="326837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Local Container Stack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8564909" y="3657600"/>
            <a:ext cx="31127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Multi-stage Docker builds running locally via Docker Compose before deployment.</a:t>
            </a:r>
            <a:endParaRPr/>
          </a:p>
        </p:txBody>
      </p:sp>
      <p:pic>
        <p:nvPicPr>
          <p:cNvPr id="182" name="Google Shape;182;p21" title="docker_compo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9" y="1290613"/>
            <a:ext cx="7857327" cy="427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66300"/>
            <a:ext cx="12192001" cy="41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3718490" y="572950"/>
            <a:ext cx="475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Immutable Artifacts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3718490" y="1258750"/>
            <a:ext cx="424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Clean container images pushed to Docker Hub.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3718490" y="1868350"/>
            <a:ext cx="475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Tagged strictly with Git commit SHAs.</a:t>
            </a:r>
            <a:endParaRPr/>
          </a:p>
        </p:txBody>
      </p:sp>
      <p:pic>
        <p:nvPicPr>
          <p:cNvPr id="191" name="Google Shape;191;p22" title="docker_hub_registe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177897"/>
            <a:ext cx="12192000" cy="3168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/>
          <p:nvPr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609600" y="6172200"/>
            <a:ext cx="411301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Cluster Observability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6581775" y="6248400"/>
            <a:ext cx="5610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Prometheus &amp; Grafana monitoring compute resources.</a:t>
            </a:r>
            <a:endParaRPr/>
          </a:p>
        </p:txBody>
      </p:sp>
      <p:pic>
        <p:nvPicPr>
          <p:cNvPr id="199" name="Google Shape;199;p23" title="grafana_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163" y="177075"/>
            <a:ext cx="10219663" cy="556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3825" y="0"/>
            <a:ext cx="814817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4" title="browser_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3825" y="1360975"/>
            <a:ext cx="8036176" cy="423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075" y="1491425"/>
            <a:ext cx="51816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4"/>
          <p:cNvSpPr txBox="1"/>
          <p:nvPr/>
        </p:nvSpPr>
        <p:spPr>
          <a:xfrm>
            <a:off x="125075" y="2177225"/>
            <a:ext cx="391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Application Deployed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125075" y="3459733"/>
            <a:ext cx="373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FastAPI backend and frontend running via Helm.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125075" y="4172238"/>
            <a:ext cx="373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Exposed securely on EKS nodes.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00" y="2290762"/>
            <a:ext cx="5334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5"/>
          <p:cNvSpPr txBox="1"/>
          <p:nvPr/>
        </p:nvSpPr>
        <p:spPr>
          <a:xfrm>
            <a:off x="3601938" y="3205162"/>
            <a:ext cx="4988123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Complete</a:t>
            </a:r>
            <a:endParaRPr/>
          </a:p>
        </p:txBody>
      </p:sp>
      <p:sp>
        <p:nvSpPr>
          <p:cNvPr id="216" name="Google Shape;216;p25"/>
          <p:cNvSpPr txBox="1"/>
          <p:nvPr/>
        </p:nvSpPr>
        <p:spPr>
          <a:xfrm>
            <a:off x="2524125" y="4014787"/>
            <a:ext cx="7143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fully automated, secure, and observable infrastructure lifecycle.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